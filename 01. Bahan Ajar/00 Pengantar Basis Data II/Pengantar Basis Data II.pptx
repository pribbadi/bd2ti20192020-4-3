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498" r:id="rId3"/>
    <p:sldId id="436" r:id="rId4"/>
    <p:sldId id="437" r:id="rId5"/>
    <p:sldId id="457" r:id="rId6"/>
    <p:sldId id="458" r:id="rId7"/>
    <p:sldId id="459" r:id="rId8"/>
    <p:sldId id="460" r:id="rId9"/>
    <p:sldId id="461" r:id="rId10"/>
    <p:sldId id="497" r:id="rId11"/>
    <p:sldId id="462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6" r:id="rId26"/>
    <p:sldId id="477" r:id="rId27"/>
    <p:sldId id="478" r:id="rId28"/>
    <p:sldId id="479" r:id="rId29"/>
    <p:sldId id="48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28" autoAdjust="0"/>
    <p:restoredTop sz="94660"/>
  </p:normalViewPr>
  <p:slideViewPr>
    <p:cSldViewPr snapToGrid="0">
      <p:cViewPr varScale="1">
        <p:scale>
          <a:sx n="94" d="100"/>
          <a:sy n="94" d="100"/>
        </p:scale>
        <p:origin x="69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20/02/2020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1D91157-1016-4281-A136-F5B3435FE497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2734C3-1003-4EA5-B54B-E29BF4EB5C4C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BB6B57-642A-4CC7-BE94-55B040536501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8EE084-CA3C-4DE7-BC5D-2227BE477071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7A9729-5265-40CE-A94D-2EA29E76FF7A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020666-B417-436F-86CC-96C4C5205E41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B18BE6A-5345-4C5E-99CC-93CEF72392A4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F76A6E-0F09-45A1-BEFE-1E93EF981D8E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C9F7DA-A369-4408-869C-1B53D7B109E3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59CE4F8-3675-4511-887A-BDBA1BC184EB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269E30-EB47-4221-AA31-548E150CA3BC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B3940A-799B-4E4F-AE67-957753AFEDAC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FE29477-5002-41F0-A6D6-3D5C516FFCAF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219417-6DF6-4C23-B898-67D8FDEA9651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7C7F96-E402-4450-8CF0-4DD0F112677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bbad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sz="3200" dirty="0" err="1">
                <a:solidFill>
                  <a:prstClr val="black"/>
                </a:solidFill>
              </a:rPr>
              <a:t>Teguh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Pribadi</a:t>
            </a:r>
            <a:endParaRPr lang="en-US" sz="3200" dirty="0">
              <a:solidFill>
                <a:prstClr val="black"/>
              </a:solidFill>
            </a:endParaRP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ID" dirty="0">
                <a:solidFill>
                  <a:prstClr val="white">
                    <a:lumMod val="65000"/>
                  </a:prst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https://github.com/pribbadi</a:t>
            </a:r>
            <a:r>
              <a:rPr lang="en-US" dirty="0">
                <a:solidFill>
                  <a:prstClr val="white">
                    <a:lumMod val="65000"/>
                  </a:prstClr>
                </a:solidFill>
              </a:rPr>
              <a:t> ||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Basis Data II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</a:t>
            </a:r>
            <a:r>
              <a:rPr lang="en-US" sz="3600" dirty="0">
                <a:solidFill>
                  <a:srgbClr val="0070C0"/>
                </a:solidFill>
              </a:rPr>
              <a:t>0</a:t>
            </a:r>
            <a:r>
              <a:rPr lang="id-ID" sz="3600" dirty="0">
                <a:solidFill>
                  <a:srgbClr val="0070C0"/>
                </a:solidFill>
              </a:rPr>
              <a:t>. </a:t>
            </a:r>
            <a:r>
              <a:rPr lang="en-US" sz="3500" dirty="0" err="1">
                <a:solidFill>
                  <a:srgbClr val="0070C0"/>
                </a:solidFill>
              </a:rPr>
              <a:t>Pengantar</a:t>
            </a:r>
            <a:r>
              <a:rPr lang="en-US" sz="3500" dirty="0">
                <a:solidFill>
                  <a:srgbClr val="0070C0"/>
                </a:solidFill>
              </a:rPr>
              <a:t> Basis Data II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689B-0725-4CEC-A248-FEB18F70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Pengantar</a:t>
            </a:r>
            <a:r>
              <a:rPr lang="en-US" dirty="0"/>
              <a:t> Basis Data II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A1B1-645A-4C92-90D2-88972B21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7338" indent="-287338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en-US" dirty="0" err="1">
                <a:latin typeface="Agency FB" panose="020B0503020202020204" pitchFamily="34" charset="0"/>
              </a:rPr>
              <a:t>Pendahuluan</a:t>
            </a:r>
            <a:endParaRPr lang="en-US" dirty="0">
              <a:latin typeface="Agency FB" panose="020B0503020202020204" pitchFamily="34" charset="0"/>
            </a:endParaRPr>
          </a:p>
          <a:p>
            <a:pPr marL="287338" indent="-287338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id-ID" dirty="0">
                <a:latin typeface="Agency FB" panose="020B0503020202020204" pitchFamily="34" charset="0"/>
              </a:rPr>
              <a:t>Normalisasi Data / ERD</a:t>
            </a:r>
          </a:p>
          <a:p>
            <a:pPr marL="287338" indent="-287338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id-ID" dirty="0">
                <a:latin typeface="Agency FB" panose="020B0503020202020204" pitchFamily="34" charset="0"/>
              </a:rPr>
              <a:t>DDL-DML</a:t>
            </a:r>
          </a:p>
          <a:p>
            <a:pPr marL="287338" indent="-287338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id-ID" dirty="0">
                <a:latin typeface="Agency FB" panose="020B0503020202020204" pitchFamily="34" charset="0"/>
              </a:rPr>
              <a:t>DDL</a:t>
            </a:r>
          </a:p>
          <a:p>
            <a:pPr marL="287338" indent="-287338">
              <a:lnSpc>
                <a:spcPct val="100000"/>
              </a:lnSpc>
              <a:spcBef>
                <a:spcPts val="0"/>
              </a:spcBef>
              <a:buAutoNum type="alphaLcPeriod"/>
            </a:pPr>
            <a:r>
              <a:rPr lang="id-ID" dirty="0">
                <a:latin typeface="Agency FB" panose="020B0503020202020204" pitchFamily="34" charset="0"/>
              </a:rPr>
              <a:t>DML</a:t>
            </a: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80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a) Pendahuluan</a:t>
            </a:r>
            <a:endParaRPr lang="id-ID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database is an </a:t>
            </a:r>
            <a:r>
              <a:rPr lang="en-US" dirty="0">
                <a:solidFill>
                  <a:srgbClr val="0070C0"/>
                </a:solidFill>
              </a:rPr>
              <a:t>organized collection of data</a:t>
            </a:r>
            <a:r>
              <a:rPr lang="en-US" dirty="0"/>
              <a:t>. In MySQL you often create </a:t>
            </a:r>
            <a:r>
              <a:rPr lang="en-US" dirty="0">
                <a:solidFill>
                  <a:srgbClr val="0070C0"/>
                </a:solidFill>
              </a:rPr>
              <a:t>separate databases</a:t>
            </a:r>
            <a:r>
              <a:rPr lang="en-US" dirty="0"/>
              <a:t> for each of your projects. </a:t>
            </a:r>
            <a:r>
              <a:rPr lang="en-US" sz="1600" dirty="0"/>
              <a:t>(Andrea Tar, 2012)</a:t>
            </a:r>
          </a:p>
          <a:p>
            <a:r>
              <a:rPr lang="en-US" dirty="0"/>
              <a:t>The purpose of a </a:t>
            </a:r>
            <a:r>
              <a:rPr lang="en-US" dirty="0">
                <a:solidFill>
                  <a:srgbClr val="0070C0"/>
                </a:solidFill>
              </a:rPr>
              <a:t>database is to help people keep track of things</a:t>
            </a:r>
            <a:r>
              <a:rPr lang="en-US" dirty="0"/>
              <a:t>, and the most commonly used type of database is the relational database. Data are recorded </a:t>
            </a:r>
            <a:r>
              <a:rPr lang="en-US" dirty="0">
                <a:solidFill>
                  <a:srgbClr val="0070C0"/>
                </a:solidFill>
              </a:rPr>
              <a:t>facts</a:t>
            </a:r>
            <a:r>
              <a:rPr lang="en-US" dirty="0"/>
              <a:t> and numbers. </a:t>
            </a:r>
            <a:r>
              <a:rPr lang="en-US" sz="1600" dirty="0">
                <a:solidFill>
                  <a:prstClr val="black"/>
                </a:solidFill>
              </a:rPr>
              <a:t>(Kroenke David, 2013)</a:t>
            </a:r>
          </a:p>
          <a:p>
            <a:r>
              <a:rPr lang="en-US" dirty="0"/>
              <a:t>A database is a </a:t>
            </a:r>
            <a:r>
              <a:rPr lang="en-US" dirty="0">
                <a:solidFill>
                  <a:srgbClr val="0070C0"/>
                </a:solidFill>
              </a:rPr>
              <a:t>collection of data</a:t>
            </a:r>
            <a:r>
              <a:rPr lang="en-US" dirty="0"/>
              <a:t>. The term database usually indicates that the collection of data is </a:t>
            </a:r>
            <a:r>
              <a:rPr lang="en-US" dirty="0">
                <a:solidFill>
                  <a:srgbClr val="0070C0"/>
                </a:solidFill>
              </a:rPr>
              <a:t>stored on a computer</a:t>
            </a:r>
            <a:r>
              <a:rPr lang="en-US" dirty="0"/>
              <a:t>. </a:t>
            </a:r>
            <a:r>
              <a:rPr lang="en-US" sz="1600" dirty="0"/>
              <a:t>(</a:t>
            </a:r>
            <a:r>
              <a:rPr lang="en-US" sz="1600" dirty="0" err="1"/>
              <a:t>Suehering</a:t>
            </a:r>
            <a:r>
              <a:rPr lang="en-US" sz="1600" dirty="0"/>
              <a:t> </a:t>
            </a:r>
            <a:r>
              <a:rPr lang="en-US" sz="1600" dirty="0" err="1"/>
              <a:t>steve</a:t>
            </a:r>
            <a:r>
              <a:rPr lang="en-US" sz="1600" dirty="0"/>
              <a:t>, 2009)</a:t>
            </a:r>
          </a:p>
          <a:p>
            <a:r>
              <a:rPr lang="en-US" dirty="0">
                <a:solidFill>
                  <a:prstClr val="black"/>
                </a:solidFill>
              </a:rPr>
              <a:t>Basis </a:t>
            </a:r>
            <a:r>
              <a:rPr lang="en-US" dirty="0" err="1">
                <a:solidFill>
                  <a:prstClr val="black"/>
                </a:solidFill>
              </a:rPr>
              <a:t>atau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kumpulan</a:t>
            </a:r>
            <a:r>
              <a:rPr lang="en-US" b="1" dirty="0">
                <a:solidFill>
                  <a:srgbClr val="002060"/>
                </a:solidFill>
              </a:rPr>
              <a:t> data </a:t>
            </a:r>
            <a:r>
              <a:rPr lang="en-US" b="1" dirty="0" err="1">
                <a:solidFill>
                  <a:srgbClr val="002060"/>
                </a:solidFill>
              </a:rPr>
              <a:t>lengkap</a:t>
            </a:r>
            <a:r>
              <a:rPr lang="en-US" b="1" dirty="0">
                <a:solidFill>
                  <a:srgbClr val="002060"/>
                </a:solidFill>
              </a:rPr>
              <a:t> yang </a:t>
            </a:r>
            <a:r>
              <a:rPr lang="en-US" b="1" dirty="0" err="1">
                <a:solidFill>
                  <a:srgbClr val="002060"/>
                </a:solidFill>
              </a:rPr>
              <a:t>terelasi</a:t>
            </a:r>
            <a:r>
              <a:rPr lang="en-US" dirty="0">
                <a:solidFill>
                  <a:prstClr val="black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57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b) ERD</a:t>
            </a:r>
            <a:endParaRPr lang="id-ID" sz="3200" b="1" dirty="0">
              <a:solidFill>
                <a:srgbClr val="0070C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hubungan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antar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tabel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database yang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keutuhan</a:t>
            </a:r>
            <a:r>
              <a:rPr lang="en-US" dirty="0"/>
              <a:t> data.</a:t>
            </a:r>
          </a:p>
          <a:p>
            <a:r>
              <a:rPr lang="en-US" dirty="0"/>
              <a:t>Ada 3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table: </a:t>
            </a:r>
            <a:r>
              <a:rPr lang="en-US" sz="1800" dirty="0"/>
              <a:t>(</a:t>
            </a:r>
            <a:r>
              <a:rPr lang="en-US" sz="1800" dirty="0" err="1"/>
              <a:t>Melani</a:t>
            </a:r>
            <a:r>
              <a:rPr lang="en-US" sz="1800" dirty="0"/>
              <a:t> Julie C., 2004)</a:t>
            </a:r>
            <a:endParaRPr lang="en-US" dirty="0"/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One to one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Many to one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Many to many</a:t>
            </a:r>
          </a:p>
        </p:txBody>
      </p:sp>
    </p:spTree>
    <p:extLst>
      <p:ext uri="{BB962C8B-B14F-4D97-AF65-F5344CB8AC3E}">
        <p14:creationId xmlns:p14="http://schemas.microsoft.com/office/powerpoint/2010/main" val="338015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b) ERD – one to one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key appears only once in a related table. </a:t>
            </a:r>
            <a:r>
              <a:rPr lang="en-US" sz="1800" dirty="0">
                <a:solidFill>
                  <a:prstClr val="black"/>
                </a:solidFill>
              </a:rPr>
              <a:t>(</a:t>
            </a:r>
            <a:r>
              <a:rPr lang="en-US" sz="1800" dirty="0" err="1">
                <a:solidFill>
                  <a:prstClr val="black"/>
                </a:solidFill>
              </a:rPr>
              <a:t>Melani</a:t>
            </a:r>
            <a:r>
              <a:rPr lang="en-US" sz="1800" dirty="0">
                <a:solidFill>
                  <a:prstClr val="black"/>
                </a:solidFill>
              </a:rPr>
              <a:t> Julie C., 2004)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1" y="3125152"/>
            <a:ext cx="3472897" cy="1558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954" y="2877500"/>
            <a:ext cx="3038475" cy="2200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735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b) ERD – one to many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Keys from one table appear multiple times in a related table. </a:t>
            </a:r>
            <a:r>
              <a:rPr lang="en-US" sz="1800" dirty="0">
                <a:solidFill>
                  <a:prstClr val="black"/>
                </a:solidFill>
              </a:rPr>
              <a:t>(</a:t>
            </a:r>
            <a:r>
              <a:rPr lang="en-US" sz="1800" dirty="0" err="1">
                <a:solidFill>
                  <a:prstClr val="black"/>
                </a:solidFill>
              </a:rPr>
              <a:t>Melani</a:t>
            </a:r>
            <a:r>
              <a:rPr lang="en-US" sz="1800" dirty="0">
                <a:solidFill>
                  <a:prstClr val="black"/>
                </a:solidFill>
              </a:rPr>
              <a:t> Julie C., 2004)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4" y="2958464"/>
            <a:ext cx="45339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0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b) ERD – many to many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r>
              <a:rPr lang="en-US" dirty="0"/>
              <a:t>Keys from one table appear multiple times in a related table. </a:t>
            </a:r>
            <a:r>
              <a:rPr lang="en-US" sz="1800" dirty="0">
                <a:solidFill>
                  <a:prstClr val="black"/>
                </a:solidFill>
              </a:rPr>
              <a:t>(</a:t>
            </a:r>
            <a:r>
              <a:rPr lang="en-US" sz="1800" dirty="0" err="1">
                <a:solidFill>
                  <a:prstClr val="black"/>
                </a:solidFill>
              </a:rPr>
              <a:t>Melani</a:t>
            </a:r>
            <a:r>
              <a:rPr lang="en-US" sz="1800" dirty="0">
                <a:solidFill>
                  <a:prstClr val="black"/>
                </a:solidFill>
              </a:rPr>
              <a:t> Julie C., 2004)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2" y="2628900"/>
            <a:ext cx="4409188" cy="1997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963" y="4532243"/>
            <a:ext cx="5231493" cy="17403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994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b) ERD – Mengapa dibutuhkan?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A good database design is crucial for a high performance application, just like an aerodynamic body is important to a race car. If the car doesn’t have smooth lines, it will produce drag and go slower. The same holds true for databases. If a database doesn’t have optimized relationships (normalization) it won’t be able to perform as efficiently as possible. </a:t>
            </a:r>
            <a:r>
              <a:rPr lang="en-US" sz="2000" dirty="0">
                <a:solidFill>
                  <a:prstClr val="black"/>
                </a:solidFill>
              </a:rPr>
              <a:t>(</a:t>
            </a:r>
            <a:r>
              <a:rPr lang="en-US" sz="2000" dirty="0" err="1">
                <a:solidFill>
                  <a:prstClr val="black"/>
                </a:solidFill>
              </a:rPr>
              <a:t>Melani</a:t>
            </a:r>
            <a:r>
              <a:rPr lang="en-US" sz="2000" dirty="0">
                <a:solidFill>
                  <a:prstClr val="black"/>
                </a:solidFill>
              </a:rPr>
              <a:t> Julie C., 2004)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248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b) ERD – Mengapa dibutuhkan?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Beyond performance is the issue of maintenance. Your database should be easy to maintain. This includes storing a limited amount (if any) of repetitive data. If you have a lot of repetitive data and one instance of that data undergoes a change (such as a name change), that change has to be made for all occurrences of the data. </a:t>
            </a:r>
            <a:r>
              <a:rPr lang="en-US" sz="2000" dirty="0">
                <a:solidFill>
                  <a:prstClr val="black"/>
                </a:solidFill>
              </a:rPr>
              <a:t>(</a:t>
            </a:r>
            <a:r>
              <a:rPr lang="en-US" sz="2000" dirty="0" err="1">
                <a:solidFill>
                  <a:prstClr val="black"/>
                </a:solidFill>
              </a:rPr>
              <a:t>Melani</a:t>
            </a:r>
            <a:r>
              <a:rPr lang="en-US" sz="2000" dirty="0">
                <a:solidFill>
                  <a:prstClr val="black"/>
                </a:solidFill>
              </a:rPr>
              <a:t> Julie C., 2004)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2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b) ERD – Alur menentukan relasi tabel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 table: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 err="1"/>
              <a:t>Pahami</a:t>
            </a:r>
            <a:r>
              <a:rPr lang="en-US" dirty="0"/>
              <a:t> system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.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 err="1"/>
              <a:t>Berdasar</a:t>
            </a:r>
            <a:r>
              <a:rPr lang="en-US" dirty="0"/>
              <a:t> point 1, </a:t>
            </a:r>
            <a:r>
              <a:rPr lang="en-US" dirty="0" err="1"/>
              <a:t>ekstrak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per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tabelnya</a:t>
            </a:r>
            <a:r>
              <a:rPr lang="en-US" dirty="0"/>
              <a:t>.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 err="1"/>
              <a:t>Relasikan</a:t>
            </a:r>
            <a:r>
              <a:rPr lang="en-US" dirty="0"/>
              <a:t> </a:t>
            </a:r>
            <a:r>
              <a:rPr lang="en-US" dirty="0" err="1"/>
              <a:t>tabel-tabel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tabelnya</a:t>
            </a:r>
            <a:r>
              <a:rPr lang="en-US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335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1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siswa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masuk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dirty="0" err="1"/>
              <a:t>kelas</a:t>
            </a:r>
            <a:r>
              <a:rPr lang="en-US" sz="2800" dirty="0"/>
              <a:t> </a:t>
            </a:r>
            <a:r>
              <a:rPr lang="en-US" sz="2800" dirty="0" err="1"/>
              <a:t>berjenjang</a:t>
            </a:r>
            <a:r>
              <a:rPr lang="en-US" sz="2800" dirty="0"/>
              <a:t>.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kelas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memiliki</a:t>
            </a:r>
            <a:r>
              <a:rPr lang="en-US" sz="2800" dirty="0"/>
              <a:t> </a:t>
            </a:r>
            <a:r>
              <a:rPr lang="en-US" sz="2800" dirty="0" err="1"/>
              <a:t>pelajaran</a:t>
            </a:r>
            <a:r>
              <a:rPr lang="en-US" sz="2800" dirty="0"/>
              <a:t>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ditetapkan</a:t>
            </a:r>
            <a:r>
              <a:rPr lang="en-US" sz="2800" dirty="0"/>
              <a:t>.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pelajaran</a:t>
            </a:r>
            <a:r>
              <a:rPr lang="en-US" sz="2800" dirty="0"/>
              <a:t> </a:t>
            </a:r>
            <a:r>
              <a:rPr lang="en-US" sz="2800" dirty="0" err="1"/>
              <a:t>diajar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seorang</a:t>
            </a:r>
            <a:r>
              <a:rPr lang="en-US" sz="2800" dirty="0"/>
              <a:t> guru.</a:t>
            </a:r>
          </a:p>
        </p:txBody>
      </p:sp>
    </p:spTree>
    <p:extLst>
      <p:ext uri="{BB962C8B-B14F-4D97-AF65-F5344CB8AC3E}">
        <p14:creationId xmlns:p14="http://schemas.microsoft.com/office/powerpoint/2010/main" val="33523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prstClr val="black"/>
                </a:solidFill>
              </a:rPr>
              <a:t>b) ERD – Studi Kasus 1 (proses 1)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Setiap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siswa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masuk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dalam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sebuah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kelas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berjenjang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17" y="2915478"/>
            <a:ext cx="6869674" cy="2574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938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prstClr val="black"/>
                </a:solidFill>
              </a:rPr>
              <a:t>b) ERD – Studi Kasus 1 (proses 2)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berjenjang</a:t>
            </a:r>
            <a:r>
              <a:rPr lang="en-US" dirty="0"/>
              <a:t>.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Setiap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kelas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memiliki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pelajaran</a:t>
            </a:r>
            <a:r>
              <a:rPr lang="en-US" dirty="0">
                <a:solidFill>
                  <a:srgbClr val="0070C0"/>
                </a:solidFill>
              </a:rPr>
              <a:t> yang </a:t>
            </a:r>
            <a:r>
              <a:rPr lang="en-US" dirty="0" err="1">
                <a:solidFill>
                  <a:srgbClr val="0070C0"/>
                </a:solidFill>
              </a:rPr>
              <a:t>telah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ditetapkan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9" y="3235601"/>
            <a:ext cx="8629650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820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prstClr val="black"/>
                </a:solidFill>
              </a:rPr>
              <a:t>b) ERD – Studi Kasus 1 (proses 3)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berjenjang</a:t>
            </a:r>
            <a:r>
              <a:rPr lang="en-US" dirty="0"/>
              <a:t>.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pelajaran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.</a:t>
            </a:r>
          </a:p>
          <a:p>
            <a:pPr marL="620713" lvl="1" indent="-457200" defTabSz="690563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Setiap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pelajaran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diajar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oleh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seorang</a:t>
            </a:r>
            <a:r>
              <a:rPr lang="en-US" dirty="0">
                <a:solidFill>
                  <a:srgbClr val="0070C0"/>
                </a:solidFill>
              </a:rPr>
              <a:t> guru.</a:t>
            </a:r>
          </a:p>
          <a:p>
            <a:pPr marL="163513" lvl="1" indent="0" defTabSz="690563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56" y="3348728"/>
            <a:ext cx="7111595" cy="2947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08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2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Perpustakaan</a:t>
            </a:r>
            <a:r>
              <a:rPr lang="en-US" dirty="0"/>
              <a:t> X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:</a:t>
            </a:r>
          </a:p>
          <a:p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perpustakaan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, </a:t>
            </a:r>
            <a:r>
              <a:rPr lang="en-US" dirty="0" err="1"/>
              <a:t>dosen</a:t>
            </a:r>
            <a:r>
              <a:rPr lang="en-US" dirty="0"/>
              <a:t>, dan staff X.</a:t>
            </a:r>
          </a:p>
          <a:p>
            <a:r>
              <a:rPr lang="en-US" dirty="0"/>
              <a:t>Lama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peminjaman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1 </a:t>
            </a:r>
            <a:r>
              <a:rPr lang="en-US" dirty="0" err="1"/>
              <a:t>minggu</a:t>
            </a:r>
            <a:r>
              <a:rPr lang="en-US" dirty="0"/>
              <a:t>.</a:t>
            </a:r>
          </a:p>
          <a:p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peminjaman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3 </a:t>
            </a:r>
            <a:r>
              <a:rPr lang="en-US" dirty="0" err="1"/>
              <a:t>buah</a:t>
            </a:r>
            <a:r>
              <a:rPr lang="en-US" dirty="0"/>
              <a:t>.</a:t>
            </a:r>
          </a:p>
          <a:p>
            <a:r>
              <a:rPr lang="en-US" dirty="0" err="1"/>
              <a:t>Peminjaman</a:t>
            </a:r>
            <a:r>
              <a:rPr lang="en-US" dirty="0"/>
              <a:t> </a:t>
            </a:r>
            <a:r>
              <a:rPr lang="en-US" dirty="0" err="1"/>
              <a:t>dilayani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staff </a:t>
            </a:r>
            <a:r>
              <a:rPr lang="en-US" dirty="0" err="1"/>
              <a:t>perpustakaan</a:t>
            </a:r>
            <a:r>
              <a:rPr lang="en-US" dirty="0"/>
              <a:t>.</a:t>
            </a:r>
          </a:p>
          <a:p>
            <a:r>
              <a:rPr lang="en-US" dirty="0" err="1"/>
              <a:t>Denda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dikenakan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peminjam</a:t>
            </a:r>
            <a:r>
              <a:rPr lang="en-US" dirty="0"/>
              <a:t>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pengembalian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Gambarkan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relasi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tabelnya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2331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3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membuatkan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di </a:t>
            </a:r>
            <a:r>
              <a:rPr lang="en-US" dirty="0" err="1"/>
              <a:t>kampus</a:t>
            </a:r>
            <a:r>
              <a:rPr lang="en-US" dirty="0"/>
              <a:t> ABC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mengorganisir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mahasiswanya</a:t>
            </a:r>
            <a:r>
              <a:rPr lang="en-US" dirty="0"/>
              <a:t>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ketentuannya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sbb</a:t>
            </a:r>
            <a:r>
              <a:rPr lang="en-US" dirty="0"/>
              <a:t>:</a:t>
            </a:r>
          </a:p>
          <a:p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login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memasuki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menginputkan</a:t>
            </a:r>
            <a:r>
              <a:rPr lang="en-US" dirty="0"/>
              <a:t> username </a:t>
            </a:r>
            <a:r>
              <a:rPr lang="en-US" dirty="0" err="1"/>
              <a:t>dan</a:t>
            </a:r>
            <a:r>
              <a:rPr lang="en-US" dirty="0"/>
              <a:t> password.</a:t>
            </a:r>
          </a:p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dikumpulkan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.</a:t>
            </a:r>
          </a:p>
          <a:p>
            <a:r>
              <a:rPr lang="en-US" dirty="0" err="1"/>
              <a:t>Pengumpulan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pdf,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Gambarkan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relasi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tabelnya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87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4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Sebuah</a:t>
            </a:r>
            <a:r>
              <a:rPr lang="en-US" dirty="0"/>
              <a:t> supermarket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pelayanan</a:t>
            </a:r>
            <a:r>
              <a:rPr lang="en-US" dirty="0"/>
              <a:t> prima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pelanggannya</a:t>
            </a:r>
            <a:r>
              <a:rPr lang="en-US" dirty="0"/>
              <a:t>,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wujudnya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kasir</a:t>
            </a:r>
            <a:r>
              <a:rPr lang="en-US" dirty="0"/>
              <a:t> minimal 10.</a:t>
            </a:r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kasir</a:t>
            </a:r>
            <a:r>
              <a:rPr lang="en-US" dirty="0"/>
              <a:t>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melayani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barang-barang</a:t>
            </a:r>
            <a:r>
              <a:rPr lang="en-US" dirty="0"/>
              <a:t>.</a:t>
            </a:r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shift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1 orang supervisor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mengawasi</a:t>
            </a:r>
            <a:r>
              <a:rPr lang="en-US" dirty="0"/>
              <a:t> 5 </a:t>
            </a:r>
            <a:r>
              <a:rPr lang="en-US" dirty="0" err="1"/>
              <a:t>kasir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penganan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.</a:t>
            </a:r>
          </a:p>
          <a:p>
            <a:r>
              <a:rPr lang="en-US" dirty="0" err="1"/>
              <a:t>Pelayanan</a:t>
            </a:r>
            <a:r>
              <a:rPr lang="en-US" dirty="0"/>
              <a:t> prima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2 shift per </a:t>
            </a:r>
            <a:r>
              <a:rPr lang="en-US" dirty="0" err="1"/>
              <a:t>harinya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Supermarket </a:t>
            </a:r>
            <a:r>
              <a:rPr lang="en-US" dirty="0" err="1">
                <a:solidFill>
                  <a:srgbClr val="FF0000"/>
                </a:solidFill>
              </a:rPr>
              <a:t>tersebut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akan</a:t>
            </a:r>
            <a:r>
              <a:rPr lang="en-US" dirty="0">
                <a:solidFill>
                  <a:srgbClr val="FF0000"/>
                </a:solidFill>
              </a:rPr>
              <a:t> di SI-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maka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relasi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tabelnya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45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5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Instansi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</a:t>
            </a:r>
            <a:r>
              <a:rPr lang="en-US" dirty="0" err="1"/>
              <a:t>pegawai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SI.</a:t>
            </a:r>
          </a:p>
          <a:p>
            <a:r>
              <a:rPr lang="en-US" dirty="0" err="1"/>
              <a:t>Pegawai</a:t>
            </a:r>
            <a:r>
              <a:rPr lang="en-US" dirty="0"/>
              <a:t> yang </a:t>
            </a:r>
            <a:r>
              <a:rPr lang="en-US" dirty="0" err="1"/>
              <a:t>didata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 PNS, </a:t>
            </a:r>
            <a:r>
              <a:rPr lang="en-US" dirty="0" err="1"/>
              <a:t>Pensiun</a:t>
            </a:r>
            <a:r>
              <a:rPr lang="en-US" dirty="0"/>
              <a:t> (</a:t>
            </a:r>
            <a:r>
              <a:rPr lang="en-US" dirty="0" err="1"/>
              <a:t>meninggal</a:t>
            </a:r>
            <a:r>
              <a:rPr lang="en-US" dirty="0"/>
              <a:t>, </a:t>
            </a:r>
            <a:r>
              <a:rPr lang="en-US" dirty="0" err="1"/>
              <a:t>pemberhentian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hormat</a:t>
            </a:r>
            <a:r>
              <a:rPr lang="en-US" dirty="0"/>
              <a:t>, </a:t>
            </a:r>
            <a:r>
              <a:rPr lang="en-US" dirty="0" err="1"/>
              <a:t>pemberhentian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hormat</a:t>
            </a:r>
            <a:r>
              <a:rPr lang="en-US" dirty="0"/>
              <a:t>), </a:t>
            </a:r>
            <a:r>
              <a:rPr lang="en-US" dirty="0" err="1"/>
              <a:t>dan</a:t>
            </a:r>
            <a:r>
              <a:rPr lang="en-US" dirty="0"/>
              <a:t> Non-PNS.</a:t>
            </a:r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pegawai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riwayat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pendidikan</a:t>
            </a:r>
            <a:r>
              <a:rPr lang="en-US" dirty="0"/>
              <a:t>, </a:t>
            </a:r>
            <a:r>
              <a:rPr lang="en-US" dirty="0" err="1"/>
              <a:t>keluarga</a:t>
            </a:r>
            <a:r>
              <a:rPr lang="en-US" dirty="0"/>
              <a:t>, </a:t>
            </a:r>
            <a:r>
              <a:rPr lang="en-US" dirty="0" err="1"/>
              <a:t>pangkat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kerjanya</a:t>
            </a:r>
            <a:r>
              <a:rPr lang="en-US" dirty="0"/>
              <a:t>.</a:t>
            </a:r>
          </a:p>
          <a:p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log-</a:t>
            </a:r>
            <a:r>
              <a:rPr lang="en-US" dirty="0" err="1"/>
              <a:t>nya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superadmin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Si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r>
              <a:rPr lang="en-US" dirty="0"/>
              <a:t>Orang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SI </a:t>
            </a:r>
            <a:r>
              <a:rPr lang="en-US" dirty="0" err="1"/>
              <a:t>dengan</a:t>
            </a:r>
            <a:r>
              <a:rPr lang="en-US" dirty="0"/>
              <a:t> username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passwordnya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superadmin</a:t>
            </a:r>
            <a:r>
              <a:rPr lang="en-US" dirty="0"/>
              <a:t> (</a:t>
            </a:r>
            <a:r>
              <a:rPr lang="en-US" dirty="0" err="1"/>
              <a:t>pengatur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), admin (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skpd</a:t>
            </a:r>
            <a:r>
              <a:rPr lang="en-US" dirty="0"/>
              <a:t>),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pegawai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5648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prstClr val="black"/>
                </a:solidFill>
              </a:rPr>
              <a:t>b) ERD – Studi Kasus 6</a:t>
            </a:r>
            <a:endParaRPr lang="id-ID" sz="32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6251" y="1658982"/>
            <a:ext cx="8319406" cy="463731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keterbukaan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ketertiban</a:t>
            </a:r>
            <a:r>
              <a:rPr lang="en-US" dirty="0"/>
              <a:t> </a:t>
            </a:r>
            <a:r>
              <a:rPr lang="en-US" dirty="0" err="1"/>
              <a:t>administrasi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men-SI-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pembayarannya</a:t>
            </a:r>
            <a:r>
              <a:rPr lang="en-US" dirty="0"/>
              <a:t>.</a:t>
            </a:r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membayar</a:t>
            </a:r>
            <a:r>
              <a:rPr lang="en-US" dirty="0"/>
              <a:t> SPP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dilayani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bendahara</a:t>
            </a:r>
            <a:r>
              <a:rPr lang="en-US" dirty="0"/>
              <a:t>.</a:t>
            </a:r>
          </a:p>
          <a:p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bulannya</a:t>
            </a:r>
            <a:r>
              <a:rPr lang="en-US" dirty="0"/>
              <a:t> </a:t>
            </a:r>
            <a:r>
              <a:rPr lang="en-US" dirty="0" err="1"/>
              <a:t>berkemungkinan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X, XI, </a:t>
            </a:r>
            <a:r>
              <a:rPr lang="en-US" dirty="0" err="1"/>
              <a:t>dan</a:t>
            </a:r>
            <a:r>
              <a:rPr lang="en-US" dirty="0"/>
              <a:t> XII.</a:t>
            </a:r>
          </a:p>
          <a:p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cicil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bulannya</a:t>
            </a:r>
            <a:r>
              <a:rPr lang="en-US" dirty="0"/>
              <a:t>.</a:t>
            </a:r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 SPP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rincian</a:t>
            </a:r>
            <a:r>
              <a:rPr lang="en-US" dirty="0"/>
              <a:t> sub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4024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>
                <a:solidFill>
                  <a:prstClr val="black"/>
                </a:solidFill>
              </a:rPr>
              <a:t>c) DDL DML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Definition Language (DDL)</a:t>
            </a:r>
          </a:p>
          <a:p>
            <a:r>
              <a:rPr lang="en-US" dirty="0"/>
              <a:t>Data Manipulation Language (DML)</a:t>
            </a:r>
          </a:p>
        </p:txBody>
      </p:sp>
      <p:pic>
        <p:nvPicPr>
          <p:cNvPr id="2050" name="Picture 2" descr="http://www.tech-recipes.com/wp-content/uploads/2015/05/DML-DCL-DDL-TCL-SQL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" t="4016" r="7739" b="7477"/>
          <a:stretch/>
        </p:blipFill>
        <p:spPr bwMode="auto">
          <a:xfrm>
            <a:off x="1396161" y="1658982"/>
            <a:ext cx="6479585" cy="33528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176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d) DDL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Pengelolaan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pembuatan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database </a:t>
            </a:r>
            <a:r>
              <a:rPr lang="en-US" dirty="0" err="1">
                <a:solidFill>
                  <a:srgbClr val="0070C0"/>
                </a:solidFill>
              </a:rPr>
              <a:t>dan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tabel</a:t>
            </a:r>
            <a:r>
              <a:rPr lang="en-US" dirty="0"/>
              <a:t>.</a:t>
            </a:r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berdasar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 table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, (</a:t>
            </a:r>
            <a:r>
              <a:rPr lang="en-US" dirty="0" err="1"/>
              <a:t>nama</a:t>
            </a:r>
            <a:r>
              <a:rPr lang="en-US" dirty="0"/>
              <a:t> database = </a:t>
            </a:r>
            <a:r>
              <a:rPr lang="en-US" dirty="0" err="1">
                <a:solidFill>
                  <a:srgbClr val="FF0000"/>
                </a:solidFill>
              </a:rPr>
              <a:t>sekolah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56" y="3113454"/>
            <a:ext cx="7111595" cy="2947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6937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d) DDL Script – buat database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775109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DATABASE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`;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`;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TABLES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4" y="2163129"/>
            <a:ext cx="3965576" cy="3775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</p:spTree>
    <p:extLst>
      <p:ext uri="{BB962C8B-B14F-4D97-AF65-F5344CB8AC3E}">
        <p14:creationId xmlns:p14="http://schemas.microsoft.com/office/powerpoint/2010/main" val="837184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d) DDL Script – buat tabel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(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(10)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(100)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TABLES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0033"/>
          <a:stretch/>
        </p:blipFill>
        <p:spPr>
          <a:xfrm>
            <a:off x="476251" y="2163131"/>
            <a:ext cx="4191002" cy="1900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4186718"/>
            <a:ext cx="4191002" cy="197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43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e) DML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Pengelolaan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dalam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tabel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CRUD</a:t>
            </a:r>
            <a:r>
              <a:rPr lang="en-US" dirty="0"/>
              <a:t>:</a:t>
            </a:r>
          </a:p>
          <a:p>
            <a:pPr marL="800100" lvl="1" indent="-344488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en-US" dirty="0"/>
              <a:t>reate</a:t>
            </a:r>
          </a:p>
          <a:p>
            <a:pPr marL="800100" lvl="1" indent="-344488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R</a:t>
            </a:r>
            <a:r>
              <a:rPr lang="en-US" dirty="0"/>
              <a:t>ead (Max, Min, Sum, </a:t>
            </a:r>
            <a:r>
              <a:rPr lang="en-US" dirty="0" err="1"/>
              <a:t>dll</a:t>
            </a:r>
            <a:r>
              <a:rPr lang="en-US" dirty="0"/>
              <a:t>)</a:t>
            </a:r>
          </a:p>
          <a:p>
            <a:pPr marL="800100" lvl="1" indent="-344488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U</a:t>
            </a:r>
            <a:r>
              <a:rPr lang="en-US" dirty="0"/>
              <a:t>pdate</a:t>
            </a:r>
          </a:p>
          <a:p>
            <a:pPr marL="800100" lvl="1" indent="-344488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168636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e) DML Script – Create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`.`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(`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`,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`)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('2016111234', 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Furi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Hikmawati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79424" y="2163130"/>
            <a:ext cx="4187829" cy="2040570"/>
            <a:chOff x="479424" y="2163130"/>
            <a:chExt cx="4187829" cy="220567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424" y="2163130"/>
              <a:ext cx="4187829" cy="220567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3918985" y="2462696"/>
              <a:ext cx="246615" cy="36940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4326415"/>
            <a:ext cx="4191002" cy="18900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674385" y="4421473"/>
            <a:ext cx="322815" cy="379127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5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e) DML Script – Read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`.`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76251" y="2163130"/>
            <a:ext cx="4191002" cy="1316669"/>
            <a:chOff x="476251" y="2112331"/>
            <a:chExt cx="4191002" cy="131666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1" y="2163130"/>
              <a:ext cx="4191002" cy="126587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3925786" y="2112331"/>
              <a:ext cx="722868" cy="36417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0683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e) DML Script – Read (count)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COUNT(*) 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76251" y="2163130"/>
            <a:ext cx="4191002" cy="2888586"/>
            <a:chOff x="463551" y="2650015"/>
            <a:chExt cx="4172403" cy="288858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551" y="2650015"/>
              <a:ext cx="4172403" cy="2888586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3748364" y="3316165"/>
              <a:ext cx="887590" cy="23225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188318" y="4612944"/>
              <a:ext cx="1673998" cy="206659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2513" y="5325873"/>
              <a:ext cx="1355805" cy="212728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6089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e) DML Script – Update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`.`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`='2016111222'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`='2016111234'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Furi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hikmawati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76251" y="2163130"/>
            <a:ext cx="4191002" cy="1986738"/>
            <a:chOff x="476251" y="2163130"/>
            <a:chExt cx="4191002" cy="1986738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1" y="2163130"/>
              <a:ext cx="4191002" cy="1986738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3227286" y="2252030"/>
              <a:ext cx="404914" cy="36417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470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prstClr val="black"/>
                </a:solidFill>
              </a:rPr>
              <a:t>e) DML Script – Delete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299" y="2163131"/>
            <a:ext cx="4044955" cy="399627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`.`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`='2016111222'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`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nama_siswa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`='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Furi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hikmawati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6251" y="1565221"/>
            <a:ext cx="4191002" cy="4751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GUI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13299" y="1565221"/>
            <a:ext cx="4044956" cy="4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400" dirty="0">
                <a:cs typeface="Courier New" panose="02070309020205020404" pitchFamily="49" charset="0"/>
              </a:rPr>
              <a:t>CLI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76250" y="2163130"/>
            <a:ext cx="4188344" cy="1519870"/>
            <a:chOff x="476250" y="2163130"/>
            <a:chExt cx="4188344" cy="151987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0" y="2163130"/>
              <a:ext cx="4188344" cy="151987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2367965" y="2163130"/>
              <a:ext cx="404914" cy="36417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5536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3837</TotalTime>
  <Words>1248</Words>
  <Application>Microsoft Office PowerPoint</Application>
  <PresentationFormat>On-screen Show (4:3)</PresentationFormat>
  <Paragraphs>141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Agency FB</vt:lpstr>
      <vt:lpstr>Arial</vt:lpstr>
      <vt:lpstr>Calibri</vt:lpstr>
      <vt:lpstr>Calibri Light</vt:lpstr>
      <vt:lpstr>Courier New</vt:lpstr>
      <vt:lpstr>Rockwell</vt:lpstr>
      <vt:lpstr>Segoe UI Semilight</vt:lpstr>
      <vt:lpstr>Wingdings</vt:lpstr>
      <vt:lpstr>Office Theme</vt:lpstr>
      <vt:lpstr>Basis Data II 00. Pengantar Basis Data II</vt:lpstr>
      <vt:lpstr>Pengantar Basis Data II</vt:lpstr>
      <vt:lpstr>a) Pendahuluan</vt:lpstr>
      <vt:lpstr>b) ERD</vt:lpstr>
      <vt:lpstr>b) ERD – one to one</vt:lpstr>
      <vt:lpstr>b) ERD – one to many</vt:lpstr>
      <vt:lpstr>b) ERD – many to many</vt:lpstr>
      <vt:lpstr>b) ERD – Mengapa dibutuhkan?</vt:lpstr>
      <vt:lpstr>b) ERD – Mengapa dibutuhkan?</vt:lpstr>
      <vt:lpstr>b) ERD – Alur menentukan relasi tabel</vt:lpstr>
      <vt:lpstr>b) ERD – Studi Kasus 1</vt:lpstr>
      <vt:lpstr>b) ERD – Studi Kasus 1 (proses 1)</vt:lpstr>
      <vt:lpstr>b) ERD – Studi Kasus 1 (proses 2)</vt:lpstr>
      <vt:lpstr>b) ERD – Studi Kasus 1 (proses 3)</vt:lpstr>
      <vt:lpstr>b) ERD – Studi Kasus 2</vt:lpstr>
      <vt:lpstr>b) ERD – Studi Kasus 3</vt:lpstr>
      <vt:lpstr>b) ERD – Studi Kasus 4</vt:lpstr>
      <vt:lpstr>b) ERD – Studi Kasus 5</vt:lpstr>
      <vt:lpstr>b) ERD – Studi Kasus 6</vt:lpstr>
      <vt:lpstr>c) DDL DML</vt:lpstr>
      <vt:lpstr>d) DDL</vt:lpstr>
      <vt:lpstr>d) DDL Script – buat database</vt:lpstr>
      <vt:lpstr>d) DDL Script – buat tabel</vt:lpstr>
      <vt:lpstr>e) DML</vt:lpstr>
      <vt:lpstr>e) DML Script – Create</vt:lpstr>
      <vt:lpstr>e) DML Script – Read</vt:lpstr>
      <vt:lpstr>e) DML Script – Read (count)</vt:lpstr>
      <vt:lpstr>e) DML Script – Update</vt:lpstr>
      <vt:lpstr>e) DML Script – Delete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2566</cp:revision>
  <dcterms:created xsi:type="dcterms:W3CDTF">2016-09-02T03:38:50Z</dcterms:created>
  <dcterms:modified xsi:type="dcterms:W3CDTF">2020-02-20T08:10:05Z</dcterms:modified>
</cp:coreProperties>
</file>